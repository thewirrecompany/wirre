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3.png"/><Relationship Id="rId4" Type="http://schemas.openxmlformats.org/officeDocument/2006/relationships/image" Target="../media/image-12-3.png"/><Relationship Id="rId5" Type="http://schemas.openxmlformats.org/officeDocument/2006/relationships/image" Target="../media/image-12-3.png"/><Relationship Id="rId6" Type="http://schemas.openxmlformats.org/officeDocument/2006/relationships/image" Target="../media/image-12-3.png"/><Relationship Id="rId7" Type="http://schemas.openxmlformats.org/officeDocument/2006/relationships/image" Target="../media/image-12-3.png"/><Relationship Id="rId8" Type="http://schemas.openxmlformats.org/officeDocument/2006/relationships/image" Target="../media/image-12-3.png"/><Relationship Id="rId9" Type="http://schemas.openxmlformats.org/officeDocument/2006/relationships/image" Target="../media/image-12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7238" y="2187726"/>
            <a:ext cx="6289524" cy="39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4571" spc="-100" kern="0" dirty="0">
                <a:solidFill>
                  <a:srgbClr val="F2F2F2"/>
                </a:solidFill>
              </a:rPr>
              <a:t>Pitch: Wirre</a:t>
            </a:r>
            <a:endParaRPr lang="en-US" sz="457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695476"/>
            <a:ext cx="4233333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Wirre · wirre.in</a:t>
            </a:r>
            <a:endParaRPr lang="en-US" sz="952" dirty="0"/>
          </a:p>
        </p:txBody>
      </p:sp>
      <p:sp>
        <p:nvSpPr>
          <p:cNvPr id="3" name="Text 1"/>
          <p:cNvSpPr/>
          <p:nvPr/>
        </p:nvSpPr>
        <p:spPr>
          <a:xfrm>
            <a:off x="338667" y="695476"/>
            <a:ext cx="7662333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Wirre</a:t>
            </a:r>
            <a:endParaRPr lang="en-US" sz="3048" dirty="0"/>
          </a:p>
        </p:txBody>
      </p:sp>
      <p:sp>
        <p:nvSpPr>
          <p:cNvPr id="4" name="Text 2"/>
          <p:cNvSpPr/>
          <p:nvPr/>
        </p:nvSpPr>
        <p:spPr>
          <a:xfrm>
            <a:off x="338667" y="4457095"/>
            <a:ext cx="5104190" cy="174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Moving from manual coding to AI-orchestrated engineering.</a:t>
            </a:r>
            <a:endParaRPr lang="en-US" sz="114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2190" y="846667"/>
            <a:ext cx="8128000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The new reality</a:t>
            </a:r>
            <a:endParaRPr lang="en-US" sz="952" dirty="0"/>
          </a:p>
        </p:txBody>
      </p:sp>
      <p:sp>
        <p:nvSpPr>
          <p:cNvPr id="3" name="Text 1"/>
          <p:cNvSpPr/>
          <p:nvPr/>
        </p:nvSpPr>
        <p:spPr>
          <a:xfrm>
            <a:off x="532190" y="1638905"/>
            <a:ext cx="8128000" cy="193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>
                    <a:alpha val="56000"/>
                  </a:srgbClr>
                </a:solidFill>
              </a:rPr>
              <a:t>In 2023, the best AI on Codeforces was ranked </a:t>
            </a:r>
            <a:pPr algn="ctr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89th percentile.</a:t>
            </a:r>
            <a:br/>
            <a:pPr algn="ctr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000000"/>
                </a:solidFill>
              </a:rPr>
              <a:t>​</a:t>
            </a:r>
            <a:pPr algn="ctr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>
                    <a:alpha val="56000"/>
                  </a:srgbClr>
                </a:solidFill>
              </a:rPr>
              <a:t>By late 2024, it hit </a:t>
            </a:r>
            <a:pPr algn="ctr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99.8th.</a:t>
            </a:r>
            <a:br/>
            <a:pPr algn="ctr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000000"/>
                </a:solidFill>
              </a:rPr>
              <a:t>​</a:t>
            </a:r>
            <a:pPr algn="ctr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>
                    <a:alpha val="56000"/>
                  </a:srgbClr>
                </a:solidFill>
              </a:rPr>
              <a:t>AI is now a Grandmaster — among the</a:t>
            </a:r>
            <a:br/>
            <a:pPr algn="ctr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000000"/>
                </a:solidFill>
              </a:rPr>
              <a:t>​</a:t>
            </a:r>
            <a:pPr algn="ctr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top 200 competitive programmers on the planet.</a:t>
            </a:r>
            <a:endParaRPr lang="en-US" sz="304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38667" y="762000"/>
            <a:ext cx="1640114" cy="137160"/>
          </a:xfrm>
          <a:prstGeom prst="roundRect">
            <a:avLst>
              <a:gd name="adj" fmla="val 17637"/>
            </a:avLst>
          </a:prstGeom>
          <a:solidFill>
            <a:srgbClr val="1C1C1C"/>
          </a:solidFill>
          <a:ln/>
        </p:spPr>
        <p:txBody>
          <a:bodyPr wrap="square" lIns="50800" tIns="12700" rIns="50800" bIns="12700" rtlCol="0" anchor="ctr"/>
          <a:lstStyle/>
          <a:p>
            <a:pPr algn="l" indent="0" marL="0">
              <a:buNone/>
            </a:pPr>
            <a:r>
              <a:rPr lang="en-US" sz="571" dirty="0">
                <a:solidFill>
                  <a:srgbClr val="FFFFFF"/>
                </a:solidFill>
              </a:rPr>
              <a:t>The world changed. The platforms didn't.</a:t>
            </a:r>
            <a:endParaRPr lang="en-US" sz="571" dirty="0"/>
          </a:p>
        </p:txBody>
      </p:sp>
      <p:sp>
        <p:nvSpPr>
          <p:cNvPr id="3" name="Text 1"/>
          <p:cNvSpPr/>
          <p:nvPr/>
        </p:nvSpPr>
        <p:spPr>
          <a:xfrm>
            <a:off x="338667" y="1221620"/>
            <a:ext cx="3930952" cy="77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Algorithms are a solved problem.</a:t>
            </a:r>
            <a:endParaRPr lang="en-US" sz="3048" dirty="0"/>
          </a:p>
        </p:txBody>
      </p:sp>
      <p:sp>
        <p:nvSpPr>
          <p:cNvPr id="4" name="Text 2"/>
          <p:cNvSpPr/>
          <p:nvPr/>
        </p:nvSpPr>
        <p:spPr>
          <a:xfrm>
            <a:off x="338667" y="2092476"/>
            <a:ext cx="3870476" cy="870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LeetCode and Codeforces were built to test one thing: can you solve an isolated algorithm?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AI can now ace any of those problems in seconds - reliably, at Grandmaster level.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Millions of developers are grinding a benchmark that no longer signals engineering ability.</a:t>
            </a:r>
            <a:endParaRPr lang="en-US" sz="952" dirty="0"/>
          </a:p>
        </p:txBody>
      </p:sp>
      <p:sp>
        <p:nvSpPr>
          <p:cNvPr id="5" name="Text 3"/>
          <p:cNvSpPr/>
          <p:nvPr/>
        </p:nvSpPr>
        <p:spPr>
          <a:xfrm>
            <a:off x="4898571" y="1209524"/>
            <a:ext cx="3991429" cy="77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The gap: who can direct the machine?</a:t>
            </a:r>
            <a:endParaRPr lang="en-US" sz="3048" dirty="0"/>
          </a:p>
        </p:txBody>
      </p:sp>
      <p:sp>
        <p:nvSpPr>
          <p:cNvPr id="6" name="Text 4"/>
          <p:cNvSpPr/>
          <p:nvPr/>
        </p:nvSpPr>
        <p:spPr>
          <a:xfrm>
            <a:off x="4898571" y="2080380"/>
            <a:ext cx="3991429" cy="580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Hiring has shifted: can you architect, debug, and evolve complex software systems using AI as a collaborator?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No platform trains or certifies this skill.</a:t>
            </a:r>
            <a:pPr algn="l" indent="0" marL="0">
              <a:lnSpc>
                <a:spcPct val="100000"/>
              </a:lnSpc>
              <a:buNone/>
            </a:pPr>
            <a:endParaRPr lang="en-US" sz="95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Developers have no way to prove they're more than a "prompt wrapper."</a:t>
            </a:r>
            <a:endParaRPr lang="en-US" sz="9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2618619"/>
            <a:ext cx="2933095" cy="1161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How companies hire</a:t>
            </a:r>
            <a:br/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000000"/>
                </a:solidFill>
              </a:rPr>
              <a:t>​</a:t>
            </a:r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engineers today.</a:t>
            </a:r>
            <a:endParaRPr lang="en-US" sz="3048" dirty="0"/>
          </a:p>
        </p:txBody>
      </p:sp>
      <p:sp>
        <p:nvSpPr>
          <p:cNvPr id="3" name="Text 1"/>
          <p:cNvSpPr/>
          <p:nvPr/>
        </p:nvSpPr>
        <p:spPr>
          <a:xfrm>
            <a:off x="338667" y="3876523"/>
            <a:ext cx="2745619" cy="43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The hiring loop is broken - and everyone knows it. Companies run the same process, get the same bad signal.</a:t>
            </a:r>
            <a:endParaRPr lang="en-US" sz="952" dirty="0"/>
          </a:p>
        </p:txBody>
      </p:sp>
      <p:sp>
        <p:nvSpPr>
          <p:cNvPr id="4" name="Shape 2"/>
          <p:cNvSpPr/>
          <p:nvPr/>
        </p:nvSpPr>
        <p:spPr>
          <a:xfrm>
            <a:off x="3616476" y="338667"/>
            <a:ext cx="2533952" cy="4463143"/>
          </a:xfrm>
          <a:prstGeom prst="roundRect">
            <a:avLst>
              <a:gd name="adj" fmla="val 3819"/>
            </a:avLst>
          </a:prstGeom>
          <a:solidFill>
            <a:srgbClr val="262626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810000" y="532190"/>
            <a:ext cx="2146905" cy="426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24" spc="-12" kern="0" dirty="0">
                <a:solidFill>
                  <a:srgbClr val="F2F2F2"/>
                </a:solidFill>
              </a:rPr>
              <a:t>The broken hiring </a:t>
            </a:r>
            <a:pPr algn="l" indent="0" marL="0">
              <a:lnSpc>
                <a:spcPct val="80000"/>
              </a:lnSpc>
              <a:buNone/>
            </a:pPr>
            <a:r>
              <a:rPr lang="en-US" sz="1524" spc="-12" kern="0" dirty="0">
                <a:solidFill>
                  <a:srgbClr val="F2F2F2"/>
                </a:solidFill>
              </a:rPr>
              <a:t>loop.</a:t>
            </a:r>
            <a:pPr algn="l" indent="0" marL="0">
              <a:buNone/>
            </a:pPr>
            <a:endParaRPr lang="en-US" sz="1524" dirty="0"/>
          </a:p>
          <a:p>
            <a:pPr algn="l" indent="0" marL="0">
              <a:buNone/>
            </a:pPr>
            <a:endParaRPr lang="en-US" sz="1524" dirty="0"/>
          </a:p>
          <a:p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LeetCode challenges AI solves </a:t>
            </a:r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perfectly in seconds</a:t>
            </a:r>
            <a:pPr algn="l" indent="0" marL="0">
              <a:buNone/>
            </a:pPr>
            <a:endParaRPr lang="en-US" sz="1524" dirty="0"/>
          </a:p>
          <a:p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Whiteboard interviews test </a:t>
            </a:r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memorized patterns, not real </a:t>
            </a:r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judgment</a:t>
            </a:r>
            <a:pPr algn="l" indent="0" marL="0">
              <a:buNone/>
            </a:pPr>
            <a:endParaRPr lang="en-US" sz="1524" dirty="0"/>
          </a:p>
          <a:p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3-6 month cycles still produce </a:t>
            </a:r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bad hires who can't ship a </a:t>
            </a:r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system</a:t>
            </a:r>
            <a:pPr algn="l" indent="0" marL="0">
              <a:buNone/>
            </a:pPr>
            <a:endParaRPr lang="en-US" sz="1524" dirty="0"/>
          </a:p>
          <a:p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No signal on who can architect, </a:t>
            </a:r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debug, or direct AI in a real </a:t>
            </a:r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codebase</a:t>
            </a:r>
            <a:pPr algn="l" indent="0" marL="0">
              <a:buNone/>
            </a:pPr>
            <a:endParaRPr lang="en-US" sz="1524" dirty="0"/>
          </a:p>
        </p:txBody>
      </p:sp>
      <p:sp>
        <p:nvSpPr>
          <p:cNvPr id="6" name="Shape 4"/>
          <p:cNvSpPr/>
          <p:nvPr/>
        </p:nvSpPr>
        <p:spPr>
          <a:xfrm>
            <a:off x="3616476" y="4608286"/>
            <a:ext cx="2533952" cy="193524"/>
          </a:xfrm>
          <a:custGeom>
            <a:avLst/>
            <a:gdLst/>
            <a:ahLst/>
            <a:cxnLst/>
            <a:rect l="l" t="t" r="r" b="b"/>
            <a:pathLst>
              <a:path w="2533952" h="193524">
                <a:moveTo>
                  <a:pt x="0" y="0"/>
                </a:moveTo>
                <a:lnTo>
                  <a:pt x="2533952" y="0"/>
                </a:lnTo>
                <a:lnTo>
                  <a:pt x="2533952" y="96762"/>
                </a:lnTo>
                <a:cubicBezTo>
                  <a:pt x="2533952" y="150202"/>
                  <a:pt x="2490631" y="193524"/>
                  <a:pt x="2437190" y="193524"/>
                </a:cubicBezTo>
                <a:lnTo>
                  <a:pt x="96762" y="193524"/>
                </a:lnTo>
                <a:cubicBezTo>
                  <a:pt x="43322" y="193524"/>
                  <a:pt x="0" y="150202"/>
                  <a:pt x="0" y="96762"/>
                </a:cubicBezTo>
                <a:close/>
              </a:path>
            </a:pathLst>
          </a:custGeom>
          <a:solidFill>
            <a:srgbClr val="161616"/>
          </a:solidFill>
          <a:ln/>
        </p:spPr>
      </p:sp>
      <p:pic>
        <p:nvPicPr>
          <p:cNvPr id="7" name="Image 0" descr="https://files.chroniclehq.com/341ca2f4-e9ce-4a98-b9cf-618da3f56eeb-gradient_bg.png">    </p:cNvPr>
          <p:cNvPicPr>
            <a:picLocks noChangeAspect="1"/>
          </p:cNvPicPr>
          <p:nvPr/>
        </p:nvPicPr>
        <p:blipFill>
          <a:blip r:embed="rId1"/>
          <a:srcRect l="33874" r="33874" t="0" b="0"/>
          <a:stretch/>
        </p:blipFill>
        <p:spPr>
          <a:xfrm>
            <a:off x="6271381" y="338667"/>
            <a:ext cx="2533952" cy="446314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71381" y="338667"/>
            <a:ext cx="2533952" cy="4463143"/>
          </a:xfrm>
          <a:prstGeom prst="rect">
            <a:avLst/>
          </a:prstGeom>
          <a:solidFill>
            <a:srgbClr val="050505">
              <a:alpha val="2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64905" y="532190"/>
            <a:ext cx="2146905" cy="426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24" spc="-12" kern="0" dirty="0">
                <a:solidFill>
                  <a:srgbClr val="FFFFFF"/>
                </a:solidFill>
              </a:rPr>
              <a:t>What companies </a:t>
            </a:r>
            <a:pPr algn="l" indent="0" marL="0">
              <a:lnSpc>
                <a:spcPct val="80000"/>
              </a:lnSpc>
              <a:buNone/>
            </a:pPr>
            <a:r>
              <a:rPr lang="en-US" sz="1524" spc="-12" kern="0" dirty="0">
                <a:solidFill>
                  <a:srgbClr val="FFFFFF"/>
                </a:solidFill>
              </a:rPr>
              <a:t>actually need.</a:t>
            </a:r>
            <a:pPr algn="l" indent="0" marL="0">
              <a:buNone/>
            </a:pPr>
            <a:endParaRPr lang="en-US" sz="1524" dirty="0"/>
          </a:p>
          <a:p>
            <a:pPr algn="l" indent="0" marL="0">
              <a:buNone/>
            </a:pPr>
            <a:endParaRPr lang="en-US" sz="1524" dirty="0"/>
          </a:p>
          <a:p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A verified score showing whether </a:t>
            </a:r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an engineer can build real </a:t>
            </a:r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systems under pressure</a:t>
            </a:r>
            <a:pPr algn="l" indent="0" marL="0">
              <a:buNone/>
            </a:pPr>
            <a:endParaRPr lang="en-US" sz="1524" dirty="0"/>
          </a:p>
          <a:p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Signal that's impossible to game </a:t>
            </a:r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- not prep-able, not solvable by </a:t>
            </a:r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ChatGPT</a:t>
            </a:r>
            <a:pPr algn="l" indent="0" marL="0">
              <a:buNone/>
            </a:pPr>
            <a:endParaRPr lang="en-US" sz="1524" dirty="0"/>
          </a:p>
          <a:p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A way to compare candidates on </a:t>
            </a:r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the same benchmark, no parallel </a:t>
            </a:r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interview loops</a:t>
            </a:r>
            <a:pPr algn="l" indent="0" marL="0">
              <a:buNone/>
            </a:pPr>
            <a:endParaRPr lang="en-US" sz="1524" dirty="0"/>
          </a:p>
          <a:p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Proof of AI-orchestration </a:t>
            </a:r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ability - the skill every </a:t>
            </a:r>
            <a:pPr algn="l" marL="127000" indent="-127000">
              <a:lnSpc>
                <a:spcPct val="100000"/>
              </a:lnSpc>
              <a:spcBef>
                <a:spcPts val="300"/>
              </a:spcBef>
              <a:buSzPct val="100000"/>
              <a:buChar char="•"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engineering team now depends on</a:t>
            </a:r>
            <a:pPr algn="l" indent="0" marL="0">
              <a:buNone/>
            </a:pPr>
            <a:endParaRPr lang="en-US" sz="1524" dirty="0"/>
          </a:p>
        </p:txBody>
      </p:sp>
      <p:pic>
        <p:nvPicPr>
          <p:cNvPr id="10" name="Image 1" descr="https://files.chroniclehq.com/341ca2f4-e9ce-4a98-b9cf-618da3f56eeb-gradient_bg.png">    </p:cNvPr>
          <p:cNvPicPr>
            <a:picLocks noChangeAspect="1"/>
          </p:cNvPicPr>
          <p:nvPr/>
        </p:nvPicPr>
        <p:blipFill>
          <a:blip r:embed="rId2"/>
          <a:srcRect l="33874" r="33874" t="95664" b="0"/>
          <a:stretch/>
        </p:blipFill>
        <p:spPr>
          <a:xfrm>
            <a:off x="6271381" y="4608286"/>
            <a:ext cx="2533952" cy="19352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71381" y="4608286"/>
            <a:ext cx="2533952" cy="193524"/>
          </a:xfrm>
          <a:prstGeom prst="rect">
            <a:avLst/>
          </a:prstGeom>
          <a:solidFill>
            <a:srgbClr val="050505">
              <a:alpha val="24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1354667"/>
            <a:ext cx="2352524" cy="13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The opportunity</a:t>
            </a:r>
            <a:endParaRPr lang="en-US" sz="952" dirty="0"/>
          </a:p>
        </p:txBody>
      </p:sp>
      <p:sp>
        <p:nvSpPr>
          <p:cNvPr id="3" name="Text 1"/>
          <p:cNvSpPr/>
          <p:nvPr/>
        </p:nvSpPr>
        <p:spPr>
          <a:xfrm>
            <a:off x="338667" y="1651000"/>
            <a:ext cx="7722810" cy="774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47 million developers. One benchmark</a:t>
            </a:r>
            <a:br/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000000"/>
                </a:solidFill>
              </a:rPr>
              <a:t>​</a:t>
            </a:r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that actually matters.</a:t>
            </a:r>
            <a:endParaRPr lang="en-US" sz="3048" dirty="0"/>
          </a:p>
        </p:txBody>
      </p:sp>
      <p:sp>
        <p:nvSpPr>
          <p:cNvPr id="4" name="Shape 2"/>
          <p:cNvSpPr/>
          <p:nvPr/>
        </p:nvSpPr>
        <p:spPr>
          <a:xfrm>
            <a:off x="338667" y="3156857"/>
            <a:ext cx="2715381" cy="1644952"/>
          </a:xfrm>
          <a:prstGeom prst="roundRect">
            <a:avLst>
              <a:gd name="adj" fmla="val 5882"/>
            </a:avLst>
          </a:prstGeom>
          <a:solidFill>
            <a:srgbClr val="262626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32190" y="3350381"/>
            <a:ext cx="2328333" cy="1451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24" spc="-12" kern="0" dirty="0">
                <a:solidFill>
                  <a:srgbClr val="F2F2F2"/>
                </a:solidFill>
              </a:rPr>
              <a:t>47M</a:t>
            </a:r>
            <a:pPr algn="l" indent="0" marL="0">
              <a:buNone/>
            </a:pPr>
            <a:endParaRPr lang="en-US" sz="1524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Active developers globally in 2025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- with South Asia's population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nearly doubling in 3 years. Every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one needs a new way to prove their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skill in the age of AI.</a:t>
            </a:r>
            <a:endParaRPr lang="en-US" sz="1524" dirty="0"/>
          </a:p>
        </p:txBody>
      </p:sp>
      <p:sp>
        <p:nvSpPr>
          <p:cNvPr id="6" name="Shape 4"/>
          <p:cNvSpPr/>
          <p:nvPr/>
        </p:nvSpPr>
        <p:spPr>
          <a:xfrm>
            <a:off x="338667" y="4608286"/>
            <a:ext cx="2715381" cy="193524"/>
          </a:xfrm>
          <a:custGeom>
            <a:avLst/>
            <a:gdLst/>
            <a:ahLst/>
            <a:cxnLst/>
            <a:rect l="l" t="t" r="r" b="b"/>
            <a:pathLst>
              <a:path w="2715381" h="193524">
                <a:moveTo>
                  <a:pt x="0" y="0"/>
                </a:moveTo>
                <a:lnTo>
                  <a:pt x="2715381" y="0"/>
                </a:lnTo>
                <a:lnTo>
                  <a:pt x="2715381" y="96762"/>
                </a:lnTo>
                <a:cubicBezTo>
                  <a:pt x="2715381" y="150202"/>
                  <a:pt x="2672059" y="193524"/>
                  <a:pt x="2618619" y="193524"/>
                </a:cubicBezTo>
                <a:lnTo>
                  <a:pt x="96762" y="193524"/>
                </a:lnTo>
                <a:cubicBezTo>
                  <a:pt x="43322" y="193524"/>
                  <a:pt x="0" y="150202"/>
                  <a:pt x="0" y="96762"/>
                </a:cubicBezTo>
                <a:close/>
              </a:path>
            </a:pathLst>
          </a:custGeom>
          <a:solidFill>
            <a:srgbClr val="161616"/>
          </a:solidFill>
          <a:ln/>
        </p:spPr>
      </p:sp>
      <p:sp>
        <p:nvSpPr>
          <p:cNvPr id="7" name="Shape 5"/>
          <p:cNvSpPr/>
          <p:nvPr/>
        </p:nvSpPr>
        <p:spPr>
          <a:xfrm>
            <a:off x="3205238" y="3156857"/>
            <a:ext cx="2715381" cy="1644952"/>
          </a:xfrm>
          <a:prstGeom prst="roundRect">
            <a:avLst>
              <a:gd name="adj" fmla="val 5882"/>
            </a:avLst>
          </a:prstGeom>
          <a:solidFill>
            <a:srgbClr val="262626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398762" y="3350381"/>
            <a:ext cx="2328333" cy="1451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24" spc="-12" kern="0" dirty="0">
                <a:solidFill>
                  <a:srgbClr val="F2F2F2"/>
                </a:solidFill>
              </a:rPr>
              <a:t>$200B</a:t>
            </a:r>
            <a:pPr algn="l" indent="0" marL="0">
              <a:buNone/>
            </a:pPr>
            <a:endParaRPr lang="en-US" sz="1524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Global IT recruitment market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(2025). Companies spend this every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year searching for engineering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talent with no reliable signal.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Wirre is the signal layer.</a:t>
            </a:r>
            <a:endParaRPr lang="en-US" sz="1524" dirty="0"/>
          </a:p>
        </p:txBody>
      </p:sp>
      <p:sp>
        <p:nvSpPr>
          <p:cNvPr id="9" name="Shape 7"/>
          <p:cNvSpPr/>
          <p:nvPr/>
        </p:nvSpPr>
        <p:spPr>
          <a:xfrm>
            <a:off x="3205238" y="4608286"/>
            <a:ext cx="2715381" cy="193524"/>
          </a:xfrm>
          <a:custGeom>
            <a:avLst/>
            <a:gdLst/>
            <a:ahLst/>
            <a:cxnLst/>
            <a:rect l="l" t="t" r="r" b="b"/>
            <a:pathLst>
              <a:path w="2715381" h="193524">
                <a:moveTo>
                  <a:pt x="0" y="0"/>
                </a:moveTo>
                <a:lnTo>
                  <a:pt x="2715381" y="0"/>
                </a:lnTo>
                <a:lnTo>
                  <a:pt x="2715381" y="96762"/>
                </a:lnTo>
                <a:cubicBezTo>
                  <a:pt x="2715381" y="150202"/>
                  <a:pt x="2672059" y="193524"/>
                  <a:pt x="2618619" y="193524"/>
                </a:cubicBezTo>
                <a:lnTo>
                  <a:pt x="96762" y="193524"/>
                </a:lnTo>
                <a:cubicBezTo>
                  <a:pt x="43322" y="193524"/>
                  <a:pt x="0" y="150202"/>
                  <a:pt x="0" y="96762"/>
                </a:cubicBezTo>
                <a:close/>
              </a:path>
            </a:pathLst>
          </a:custGeom>
          <a:solidFill>
            <a:srgbClr val="161616"/>
          </a:solidFill>
          <a:ln/>
        </p:spPr>
      </p:sp>
      <p:sp>
        <p:nvSpPr>
          <p:cNvPr id="10" name="Shape 8"/>
          <p:cNvSpPr/>
          <p:nvPr/>
        </p:nvSpPr>
        <p:spPr>
          <a:xfrm>
            <a:off x="6065762" y="3156857"/>
            <a:ext cx="2715381" cy="1644952"/>
          </a:xfrm>
          <a:prstGeom prst="roundRect">
            <a:avLst>
              <a:gd name="adj" fmla="val 5882"/>
            </a:avLst>
          </a:prstGeom>
          <a:solidFill>
            <a:srgbClr val="262626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59286" y="3350381"/>
            <a:ext cx="2328333" cy="1451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24" spc="-12" kern="0" dirty="0">
                <a:solidFill>
                  <a:srgbClr val="F2F2F2"/>
                </a:solidFill>
              </a:rPr>
              <a:t>$8.5B</a:t>
            </a:r>
            <a:pPr algn="l" indent="0" marL="0">
              <a:buNone/>
            </a:pPr>
            <a:endParaRPr lang="en-US" sz="1524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Technical assessment market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projected by 2033 (13.8% CAGR).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Wirre enters as the only AI-native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benchmark built for real-world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90" spc="-12" kern="0" dirty="0">
                <a:solidFill>
                  <a:srgbClr val="F2F2F2">
                    <a:alpha val="60000"/>
                  </a:srgbClr>
                </a:solidFill>
              </a:rPr>
              <a:t>engineering.</a:t>
            </a:r>
            <a:endParaRPr lang="en-US" sz="1524" dirty="0"/>
          </a:p>
        </p:txBody>
      </p:sp>
      <p:sp>
        <p:nvSpPr>
          <p:cNvPr id="12" name="Shape 10"/>
          <p:cNvSpPr/>
          <p:nvPr/>
        </p:nvSpPr>
        <p:spPr>
          <a:xfrm>
            <a:off x="6065762" y="4608286"/>
            <a:ext cx="2715381" cy="193524"/>
          </a:xfrm>
          <a:custGeom>
            <a:avLst/>
            <a:gdLst/>
            <a:ahLst/>
            <a:cxnLst/>
            <a:rect l="l" t="t" r="r" b="b"/>
            <a:pathLst>
              <a:path w="2715381" h="193524">
                <a:moveTo>
                  <a:pt x="0" y="0"/>
                </a:moveTo>
                <a:lnTo>
                  <a:pt x="2715381" y="0"/>
                </a:lnTo>
                <a:lnTo>
                  <a:pt x="2715381" y="96762"/>
                </a:lnTo>
                <a:cubicBezTo>
                  <a:pt x="2715381" y="150202"/>
                  <a:pt x="2672059" y="193524"/>
                  <a:pt x="2618619" y="193524"/>
                </a:cubicBezTo>
                <a:lnTo>
                  <a:pt x="96762" y="193524"/>
                </a:lnTo>
                <a:cubicBezTo>
                  <a:pt x="43322" y="193524"/>
                  <a:pt x="0" y="150202"/>
                  <a:pt x="0" y="96762"/>
                </a:cubicBezTo>
                <a:close/>
              </a:path>
            </a:pathLst>
          </a:custGeom>
          <a:solidFill>
            <a:srgbClr val="16161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338667"/>
            <a:ext cx="7323667" cy="174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29" dirty="0">
                <a:solidFill>
                  <a:srgbClr val="F2F2F2"/>
                </a:solidFill>
              </a:rPr>
              <a:t>Wirre.</a:t>
            </a:r>
            <a:pPr algn="l" indent="0" marL="0">
              <a:lnSpc>
                <a:spcPct val="100000"/>
              </a:lnSpc>
              <a:buNone/>
            </a:pPr>
            <a:endParaRPr lang="en-US" sz="3429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429" dirty="0">
                <a:solidFill>
                  <a:srgbClr val="97948C"/>
                </a:solidFill>
              </a:rPr>
              <a:t>Competitive Software Engineering — where the challenge isn't a function. It's a system.</a:t>
            </a:r>
            <a:endParaRPr lang="en-US" sz="342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338667"/>
            <a:ext cx="2292048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The Wirre platform</a:t>
            </a:r>
            <a:endParaRPr lang="en-US" sz="952" dirty="0"/>
          </a:p>
        </p:txBody>
      </p:sp>
      <p:sp>
        <p:nvSpPr>
          <p:cNvPr id="3" name="Text 1"/>
          <p:cNvSpPr/>
          <p:nvPr/>
        </p:nvSpPr>
        <p:spPr>
          <a:xfrm>
            <a:off x="338667" y="1584476"/>
            <a:ext cx="423333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DBDBDB"/>
                </a:solidFill>
              </a:rPr>
              <a:t>01</a:t>
            </a:r>
            <a:endParaRPr lang="en-US" sz="2286" dirty="0"/>
          </a:p>
        </p:txBody>
      </p:sp>
      <p:sp>
        <p:nvSpPr>
          <p:cNvPr id="4" name="Text 2"/>
          <p:cNvSpPr/>
          <p:nvPr/>
        </p:nvSpPr>
        <p:spPr>
          <a:xfrm>
            <a:off x="1530048" y="1530048"/>
            <a:ext cx="4112381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Two types of rounds</a:t>
            </a:r>
            <a:endParaRPr lang="en-US" sz="3048" dirty="0"/>
          </a:p>
        </p:txBody>
      </p:sp>
      <p:sp>
        <p:nvSpPr>
          <p:cNvPr id="5" name="Text 3"/>
          <p:cNvSpPr/>
          <p:nvPr/>
        </p:nvSpPr>
        <p:spPr>
          <a:xfrm>
            <a:off x="6150429" y="1530048"/>
            <a:ext cx="2376714" cy="72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808080"/>
                </a:solidFill>
              </a:rPr>
              <a:t>Community rounds are open to all. Company rounds are run by hiring firms. Both are 100% anonymous - no one knows who else is competing, and companies cannot identify candidates during a round.</a:t>
            </a:r>
            <a:endParaRPr lang="en-US" sz="952" dirty="0"/>
          </a:p>
        </p:txBody>
      </p:sp>
      <p:sp>
        <p:nvSpPr>
          <p:cNvPr id="6" name="Text 4"/>
          <p:cNvSpPr/>
          <p:nvPr/>
        </p:nvSpPr>
        <p:spPr>
          <a:xfrm>
            <a:off x="338667" y="2455333"/>
            <a:ext cx="423333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DBDBDB"/>
                </a:solidFill>
              </a:rPr>
              <a:t>02</a:t>
            </a:r>
            <a:endParaRPr lang="en-US" sz="2286" dirty="0"/>
          </a:p>
        </p:txBody>
      </p:sp>
      <p:sp>
        <p:nvSpPr>
          <p:cNvPr id="7" name="Text 5"/>
          <p:cNvSpPr/>
          <p:nvPr/>
        </p:nvSpPr>
        <p:spPr>
          <a:xfrm>
            <a:off x="1530048" y="2413000"/>
            <a:ext cx="4112381" cy="77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Compete on real engineering problems</a:t>
            </a:r>
            <a:endParaRPr lang="en-US" sz="3048" dirty="0"/>
          </a:p>
        </p:txBody>
      </p:sp>
      <p:sp>
        <p:nvSpPr>
          <p:cNvPr id="8" name="Text 6"/>
          <p:cNvSpPr/>
          <p:nvPr/>
        </p:nvSpPr>
        <p:spPr>
          <a:xfrm>
            <a:off x="6150429" y="2413000"/>
            <a:ext cx="2376714" cy="72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808080"/>
                </a:solidFill>
              </a:rPr>
              <a:t>Candidates architect, debug, or extend a multi-service codebase by directing integrated AI agents. The benchmark: did you engineer the right system - not just write the code.</a:t>
            </a:r>
            <a:endParaRPr lang="en-US" sz="952" dirty="0"/>
          </a:p>
        </p:txBody>
      </p:sp>
      <p:sp>
        <p:nvSpPr>
          <p:cNvPr id="9" name="Text 7"/>
          <p:cNvSpPr/>
          <p:nvPr/>
        </p:nvSpPr>
        <p:spPr>
          <a:xfrm>
            <a:off x="338667" y="3350381"/>
            <a:ext cx="423333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DBDBDB"/>
                </a:solidFill>
              </a:rPr>
              <a:t>03</a:t>
            </a:r>
            <a:endParaRPr lang="en-US" sz="2286" dirty="0"/>
          </a:p>
        </p:txBody>
      </p:sp>
      <p:sp>
        <p:nvSpPr>
          <p:cNvPr id="10" name="Text 8"/>
          <p:cNvSpPr/>
          <p:nvPr/>
        </p:nvSpPr>
        <p:spPr>
          <a:xfrm>
            <a:off x="1530048" y="3295952"/>
            <a:ext cx="4112381" cy="77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Stress-test under real load</a:t>
            </a:r>
            <a:endParaRPr lang="en-US" sz="3048" dirty="0"/>
          </a:p>
        </p:txBody>
      </p:sp>
      <p:sp>
        <p:nvSpPr>
          <p:cNvPr id="11" name="Text 9"/>
          <p:cNvSpPr/>
          <p:nvPr/>
        </p:nvSpPr>
        <p:spPr>
          <a:xfrm>
            <a:off x="6150429" y="3295952"/>
            <a:ext cx="2376714" cy="72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808080"/>
                </a:solidFill>
              </a:rPr>
              <a:t>Every solution runs against automated integration tests: 10,000 concurrent requests, memory leak detection, API contract validation, and security analysis. Real infrastructure, real pressure.</a:t>
            </a:r>
            <a:endParaRPr lang="en-US" sz="952" dirty="0"/>
          </a:p>
        </p:txBody>
      </p:sp>
      <p:sp>
        <p:nvSpPr>
          <p:cNvPr id="12" name="Text 10"/>
          <p:cNvSpPr/>
          <p:nvPr/>
        </p:nvSpPr>
        <p:spPr>
          <a:xfrm>
            <a:off x="338667" y="4257524"/>
            <a:ext cx="423333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DBDBDB"/>
                </a:solidFill>
              </a:rPr>
              <a:t>04</a:t>
            </a:r>
            <a:endParaRPr lang="en-US" sz="2286" dirty="0"/>
          </a:p>
        </p:txBody>
      </p:sp>
      <p:sp>
        <p:nvSpPr>
          <p:cNvPr id="13" name="Text 11"/>
          <p:cNvSpPr/>
          <p:nvPr/>
        </p:nvSpPr>
        <p:spPr>
          <a:xfrm>
            <a:off x="1530048" y="4178905"/>
            <a:ext cx="4112381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Build your Wirre Index</a:t>
            </a:r>
            <a:endParaRPr lang="en-US" sz="3048" dirty="0"/>
          </a:p>
        </p:txBody>
      </p:sp>
      <p:sp>
        <p:nvSpPr>
          <p:cNvPr id="14" name="Text 12"/>
          <p:cNvSpPr/>
          <p:nvPr/>
        </p:nvSpPr>
        <p:spPr>
          <a:xfrm>
            <a:off x="6150429" y="4178905"/>
            <a:ext cx="2376714" cy="725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808080"/>
                </a:solidFill>
              </a:rPr>
              <a:t>Candidates earn a single score across all rounds reflecting architectural soundness, AI efficiency, performance, and security. Companies see the number only - no round details, no way to game it.</a:t>
            </a:r>
            <a:endParaRPr lang="en-US" sz="9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338667"/>
            <a:ext cx="2896810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The Wirre Index</a:t>
            </a:r>
            <a:endParaRPr lang="en-US" sz="952" dirty="0"/>
          </a:p>
        </p:txBody>
      </p:sp>
      <p:sp>
        <p:nvSpPr>
          <p:cNvPr id="3" name="Text 1"/>
          <p:cNvSpPr/>
          <p:nvPr/>
        </p:nvSpPr>
        <p:spPr>
          <a:xfrm>
            <a:off x="338667" y="671286"/>
            <a:ext cx="3828143" cy="1548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We're not replacing the scoreboard. We're replacing what it measures.</a:t>
            </a:r>
            <a:endParaRPr lang="en-US" sz="3048" dirty="0"/>
          </a:p>
        </p:txBody>
      </p:sp>
      <p:sp>
        <p:nvSpPr>
          <p:cNvPr id="4" name="Text 2"/>
          <p:cNvSpPr/>
          <p:nvPr/>
        </p:nvSpPr>
        <p:spPr>
          <a:xfrm>
            <a:off x="338667" y="4287762"/>
            <a:ext cx="3828143" cy="348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The Wirre Index tracks the four dimensions of real-world engineering — the things AI still can't do alone.</a:t>
            </a:r>
            <a:endParaRPr lang="en-US" sz="1143" dirty="0"/>
          </a:p>
        </p:txBody>
      </p:sp>
      <p:sp>
        <p:nvSpPr>
          <p:cNvPr id="5" name="Shape 3"/>
          <p:cNvSpPr/>
          <p:nvPr/>
        </p:nvSpPr>
        <p:spPr>
          <a:xfrm>
            <a:off x="4801810" y="338667"/>
            <a:ext cx="1898952" cy="1784048"/>
          </a:xfrm>
          <a:prstGeom prst="roundRect">
            <a:avLst>
              <a:gd name="adj" fmla="val 5424"/>
            </a:avLst>
          </a:prstGeom>
          <a:solidFill>
            <a:srgbClr val="262626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946952" y="483810"/>
            <a:ext cx="1608667" cy="1638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Architectural </a:t>
            </a:r>
            <a:pPr algn="l" indent="0" marL="0">
              <a:lnSpc>
                <a:spcPct val="8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soundness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How modular,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maintainable, and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scalable is the final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system design?</a:t>
            </a:r>
            <a:endParaRPr lang="en-US" sz="1143" dirty="0"/>
          </a:p>
        </p:txBody>
      </p:sp>
      <p:sp>
        <p:nvSpPr>
          <p:cNvPr id="7" name="Shape 5"/>
          <p:cNvSpPr/>
          <p:nvPr/>
        </p:nvSpPr>
        <p:spPr>
          <a:xfrm>
            <a:off x="4801810" y="1977571"/>
            <a:ext cx="1898952" cy="145143"/>
          </a:xfrm>
          <a:custGeom>
            <a:avLst/>
            <a:gdLst/>
            <a:ahLst/>
            <a:cxnLst/>
            <a:rect l="l" t="t" r="r" b="b"/>
            <a:pathLst>
              <a:path w="1898952" h="145143">
                <a:moveTo>
                  <a:pt x="0" y="0"/>
                </a:moveTo>
                <a:lnTo>
                  <a:pt x="1898952" y="0"/>
                </a:lnTo>
                <a:lnTo>
                  <a:pt x="1898952" y="48381"/>
                </a:lnTo>
                <a:cubicBezTo>
                  <a:pt x="1898952" y="101821"/>
                  <a:pt x="1855631" y="145143"/>
                  <a:pt x="1802190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</p:sp>
      <p:sp>
        <p:nvSpPr>
          <p:cNvPr id="8" name="Shape 6"/>
          <p:cNvSpPr/>
          <p:nvPr/>
        </p:nvSpPr>
        <p:spPr>
          <a:xfrm>
            <a:off x="6906381" y="338667"/>
            <a:ext cx="1898952" cy="2491619"/>
          </a:xfrm>
          <a:prstGeom prst="roundRect">
            <a:avLst>
              <a:gd name="adj" fmla="val 5096"/>
            </a:avLst>
          </a:prstGeom>
          <a:solidFill>
            <a:srgbClr val="262626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051524" y="483810"/>
            <a:ext cx="1608667" cy="2346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AI prompt efficiency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How few, how precise were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your directives to reach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a working solution?</a:t>
            </a:r>
            <a:endParaRPr lang="en-US" sz="1143" dirty="0"/>
          </a:p>
        </p:txBody>
      </p:sp>
      <p:sp>
        <p:nvSpPr>
          <p:cNvPr id="10" name="Shape 8"/>
          <p:cNvSpPr/>
          <p:nvPr/>
        </p:nvSpPr>
        <p:spPr>
          <a:xfrm>
            <a:off x="6906381" y="2685143"/>
            <a:ext cx="1898952" cy="145143"/>
          </a:xfrm>
          <a:custGeom>
            <a:avLst/>
            <a:gdLst/>
            <a:ahLst/>
            <a:cxnLst/>
            <a:rect l="l" t="t" r="r" b="b"/>
            <a:pathLst>
              <a:path w="1898952" h="145143">
                <a:moveTo>
                  <a:pt x="0" y="0"/>
                </a:moveTo>
                <a:lnTo>
                  <a:pt x="1898952" y="0"/>
                </a:lnTo>
                <a:lnTo>
                  <a:pt x="1898952" y="48381"/>
                </a:lnTo>
                <a:cubicBezTo>
                  <a:pt x="1898952" y="101821"/>
                  <a:pt x="1855631" y="145143"/>
                  <a:pt x="1802190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</p:sp>
      <p:sp>
        <p:nvSpPr>
          <p:cNvPr id="11" name="Shape 9"/>
          <p:cNvSpPr/>
          <p:nvPr/>
        </p:nvSpPr>
        <p:spPr>
          <a:xfrm>
            <a:off x="4801810" y="2316238"/>
            <a:ext cx="1898952" cy="2491619"/>
          </a:xfrm>
          <a:prstGeom prst="roundRect">
            <a:avLst>
              <a:gd name="adj" fmla="val 5096"/>
            </a:avLst>
          </a:prstGeom>
          <a:solidFill>
            <a:srgbClr val="262626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946952" y="2461381"/>
            <a:ext cx="1608667" cy="2346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System performance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CPU, memory, and latency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benchmarked against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real-world targets.</a:t>
            </a:r>
            <a:endParaRPr lang="en-US" sz="1143" dirty="0"/>
          </a:p>
        </p:txBody>
      </p:sp>
      <p:sp>
        <p:nvSpPr>
          <p:cNvPr id="13" name="Shape 11"/>
          <p:cNvSpPr/>
          <p:nvPr/>
        </p:nvSpPr>
        <p:spPr>
          <a:xfrm>
            <a:off x="4801810" y="4662714"/>
            <a:ext cx="1898952" cy="145143"/>
          </a:xfrm>
          <a:custGeom>
            <a:avLst/>
            <a:gdLst/>
            <a:ahLst/>
            <a:cxnLst/>
            <a:rect l="l" t="t" r="r" b="b"/>
            <a:pathLst>
              <a:path w="1898952" h="145143">
                <a:moveTo>
                  <a:pt x="0" y="0"/>
                </a:moveTo>
                <a:lnTo>
                  <a:pt x="1898952" y="0"/>
                </a:lnTo>
                <a:lnTo>
                  <a:pt x="1898952" y="48381"/>
                </a:lnTo>
                <a:cubicBezTo>
                  <a:pt x="1898952" y="101821"/>
                  <a:pt x="1855631" y="145143"/>
                  <a:pt x="1802190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</p:sp>
      <p:sp>
        <p:nvSpPr>
          <p:cNvPr id="14" name="Shape 12"/>
          <p:cNvSpPr/>
          <p:nvPr/>
        </p:nvSpPr>
        <p:spPr>
          <a:xfrm>
            <a:off x="6906381" y="3023810"/>
            <a:ext cx="1898952" cy="1784048"/>
          </a:xfrm>
          <a:prstGeom prst="roundRect">
            <a:avLst>
              <a:gd name="adj" fmla="val 5424"/>
            </a:avLst>
          </a:prstGeom>
          <a:solidFill>
            <a:srgbClr val="262626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051524" y="3168952"/>
            <a:ext cx="1608667" cy="1638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Security posture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Did your system expose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attack surfaces or handle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edge cases the AI missed?</a:t>
            </a:r>
            <a:endParaRPr lang="en-US" sz="1143" dirty="0"/>
          </a:p>
        </p:txBody>
      </p:sp>
      <p:sp>
        <p:nvSpPr>
          <p:cNvPr id="16" name="Shape 14"/>
          <p:cNvSpPr/>
          <p:nvPr/>
        </p:nvSpPr>
        <p:spPr>
          <a:xfrm>
            <a:off x="6906381" y="4662714"/>
            <a:ext cx="1898952" cy="145143"/>
          </a:xfrm>
          <a:custGeom>
            <a:avLst/>
            <a:gdLst/>
            <a:ahLst/>
            <a:cxnLst/>
            <a:rect l="l" t="t" r="r" b="b"/>
            <a:pathLst>
              <a:path w="1898952" h="145143">
                <a:moveTo>
                  <a:pt x="0" y="0"/>
                </a:moveTo>
                <a:lnTo>
                  <a:pt x="1898952" y="0"/>
                </a:lnTo>
                <a:lnTo>
                  <a:pt x="1898952" y="48381"/>
                </a:lnTo>
                <a:cubicBezTo>
                  <a:pt x="1898952" y="101821"/>
                  <a:pt x="1855631" y="145143"/>
                  <a:pt x="1802190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0F0F0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67" y="368905"/>
            <a:ext cx="4106333" cy="154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The world's largest hiring problem.</a:t>
            </a:r>
            <a:br/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000000"/>
                </a:solidFill>
              </a:rPr>
              <a:t>​</a:t>
            </a:r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>
                    <a:alpha val="56000"/>
                  </a:srgbClr>
                </a:solidFill>
              </a:rPr>
              <a:t>We start where the developers are.</a:t>
            </a:r>
            <a:endParaRPr lang="en-US" sz="3048" dirty="0"/>
          </a:p>
        </p:txBody>
      </p:sp>
      <p:sp>
        <p:nvSpPr>
          <p:cNvPr id="3" name="Text 1"/>
          <p:cNvSpPr/>
          <p:nvPr/>
        </p:nvSpPr>
        <p:spPr>
          <a:xfrm>
            <a:off x="338667" y="4100286"/>
            <a:ext cx="3622524" cy="58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F3F3F3"/>
                </a:solidFill>
              </a:rPr>
              <a:t>47 million developers globally. India is the world's fastest-growing developer population and the #1 source of traffic on LeetCode and Codeforces. We launch here first, then expand as the verified engineering benchmark companies trust.</a:t>
            </a:r>
            <a:endParaRPr lang="en-US" sz="952" dirty="0"/>
          </a:p>
        </p:txBody>
      </p:sp>
      <p:pic>
        <p:nvPicPr>
          <p:cNvPr id="4" name="Image 0" descr="https://files.chroniclehq.com/9eadb9f8-6759-41dc-ae78-6bcb0da3a18d-Group_6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35714" y="338667"/>
            <a:ext cx="4269619" cy="426961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62030" y="459619"/>
            <a:ext cx="216989" cy="137160"/>
          </a:xfrm>
          <a:prstGeom prst="roundRect">
            <a:avLst>
              <a:gd name="adj" fmla="val 17637"/>
            </a:avLst>
          </a:prstGeom>
          <a:solidFill>
            <a:srgbClr val="1C1C1C"/>
          </a:solidFill>
          <a:ln/>
        </p:spPr>
        <p:txBody>
          <a:bodyPr wrap="square" lIns="50800" tIns="12700" rIns="50800" bIns="12700" rtlCol="0" anchor="ctr"/>
          <a:lstStyle/>
          <a:p>
            <a:pPr algn="ctr" indent="0" marL="0">
              <a:buNone/>
            </a:pPr>
            <a:r>
              <a:rPr lang="en-US" sz="571" dirty="0">
                <a:solidFill>
                  <a:srgbClr val="FFFFFF"/>
                </a:solidFill>
              </a:rPr>
              <a:t>TAM</a:t>
            </a:r>
            <a:endParaRPr lang="en-US" sz="571" dirty="0"/>
          </a:p>
        </p:txBody>
      </p:sp>
      <p:sp>
        <p:nvSpPr>
          <p:cNvPr id="6" name="Text 3"/>
          <p:cNvSpPr/>
          <p:nvPr/>
        </p:nvSpPr>
        <p:spPr>
          <a:xfrm>
            <a:off x="5947833" y="669350"/>
            <a:ext cx="1445381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F2F2F2"/>
                </a:solidFill>
              </a:rPr>
              <a:t>$200B</a:t>
            </a:r>
            <a:endParaRPr lang="en-US" sz="2286" dirty="0"/>
          </a:p>
        </p:txBody>
      </p:sp>
      <p:sp>
        <p:nvSpPr>
          <p:cNvPr id="7" name="Text 4"/>
          <p:cNvSpPr/>
          <p:nvPr/>
        </p:nvSpPr>
        <p:spPr>
          <a:xfrm>
            <a:off x="5494262" y="1004792"/>
            <a:ext cx="2352524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2" dirty="0">
                <a:solidFill>
                  <a:srgbClr val="F3F3F3"/>
                </a:solidFill>
              </a:rPr>
              <a:t>Global IT recruitment and technical skills market (2025). Every company hiring engineers is a potential Wirre customer.</a:t>
            </a:r>
            <a:endParaRPr lang="en-US" sz="762" dirty="0"/>
          </a:p>
        </p:txBody>
      </p:sp>
      <p:sp>
        <p:nvSpPr>
          <p:cNvPr id="8" name="Text 5"/>
          <p:cNvSpPr txBox="1"/>
          <p:nvPr/>
        </p:nvSpPr>
        <p:spPr>
          <a:xfrm>
            <a:off x="6562030" y="1665379"/>
            <a:ext cx="216989" cy="137160"/>
          </a:xfrm>
          <a:prstGeom prst="roundRect">
            <a:avLst>
              <a:gd name="adj" fmla="val 17637"/>
            </a:avLst>
          </a:prstGeom>
          <a:solidFill>
            <a:srgbClr val="1C1C1C"/>
          </a:solidFill>
          <a:ln/>
        </p:spPr>
        <p:txBody>
          <a:bodyPr wrap="square" lIns="50800" tIns="12700" rIns="50800" bIns="12700" rtlCol="0" anchor="ctr"/>
          <a:lstStyle/>
          <a:p>
            <a:pPr algn="ctr" indent="0" marL="0">
              <a:buNone/>
            </a:pPr>
            <a:r>
              <a:rPr lang="en-US" sz="571" dirty="0">
                <a:solidFill>
                  <a:srgbClr val="FFFFFF"/>
                </a:solidFill>
              </a:rPr>
              <a:t>SAM</a:t>
            </a:r>
            <a:endParaRPr lang="en-US" sz="571" dirty="0"/>
          </a:p>
        </p:txBody>
      </p:sp>
      <p:sp>
        <p:nvSpPr>
          <p:cNvPr id="9" name="Text 6"/>
          <p:cNvSpPr/>
          <p:nvPr/>
        </p:nvSpPr>
        <p:spPr>
          <a:xfrm>
            <a:off x="5947833" y="1875110"/>
            <a:ext cx="1445381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F2F2F2"/>
                </a:solidFill>
              </a:rPr>
              <a:t>$8.5B</a:t>
            </a:r>
            <a:endParaRPr lang="en-US" sz="2286" dirty="0"/>
          </a:p>
        </p:txBody>
      </p:sp>
      <p:sp>
        <p:nvSpPr>
          <p:cNvPr id="10" name="Text 7"/>
          <p:cNvSpPr/>
          <p:nvPr/>
        </p:nvSpPr>
        <p:spPr>
          <a:xfrm>
            <a:off x="5584976" y="2212291"/>
            <a:ext cx="2171095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2" dirty="0">
                <a:solidFill>
                  <a:srgbClr val="F3F3F3"/>
                </a:solidFill>
              </a:rPr>
              <a:t>Developer-specific technical assessment platforms globally, projected by 2033 at 13.8% CAGR. Our direct competitive market.</a:t>
            </a:r>
            <a:endParaRPr lang="en-US" sz="762" dirty="0"/>
          </a:p>
        </p:txBody>
      </p:sp>
      <p:sp>
        <p:nvSpPr>
          <p:cNvPr id="11" name="Text 8"/>
          <p:cNvSpPr txBox="1"/>
          <p:nvPr/>
        </p:nvSpPr>
        <p:spPr>
          <a:xfrm>
            <a:off x="6562030" y="3104408"/>
            <a:ext cx="216989" cy="137160"/>
          </a:xfrm>
          <a:prstGeom prst="roundRect">
            <a:avLst>
              <a:gd name="adj" fmla="val 17637"/>
            </a:avLst>
          </a:prstGeom>
          <a:solidFill>
            <a:srgbClr val="1C1C1C"/>
          </a:solidFill>
          <a:ln/>
        </p:spPr>
        <p:txBody>
          <a:bodyPr wrap="square" lIns="50800" tIns="12700" rIns="50800" bIns="12700" rtlCol="0" anchor="ctr"/>
          <a:lstStyle/>
          <a:p>
            <a:pPr algn="ctr" indent="0" marL="0">
              <a:buNone/>
            </a:pPr>
            <a:r>
              <a:rPr lang="en-US" sz="571" dirty="0">
                <a:solidFill>
                  <a:srgbClr val="FFFFFF"/>
                </a:solidFill>
              </a:rPr>
              <a:t>SOM</a:t>
            </a:r>
            <a:endParaRPr lang="en-US" sz="571" dirty="0"/>
          </a:p>
        </p:txBody>
      </p:sp>
      <p:sp>
        <p:nvSpPr>
          <p:cNvPr id="12" name="Text 9"/>
          <p:cNvSpPr/>
          <p:nvPr/>
        </p:nvSpPr>
        <p:spPr>
          <a:xfrm>
            <a:off x="5947833" y="3314139"/>
            <a:ext cx="1445381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F2F2F2"/>
                </a:solidFill>
              </a:rPr>
              <a:t>$45M</a:t>
            </a:r>
            <a:endParaRPr lang="en-US" sz="2286" dirty="0"/>
          </a:p>
        </p:txBody>
      </p:sp>
      <p:sp>
        <p:nvSpPr>
          <p:cNvPr id="13" name="Text 10"/>
          <p:cNvSpPr/>
          <p:nvPr/>
        </p:nvSpPr>
        <p:spPr>
          <a:xfrm>
            <a:off x="5947833" y="3654741"/>
            <a:ext cx="1445381" cy="348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2" dirty="0">
                <a:solidFill>
                  <a:srgbClr val="F3F3F3"/>
                </a:solidFill>
              </a:rPr>
              <a:t>India-first launch targeting AI-native engineering assessments and hiring. 3-year capture target.</a:t>
            </a:r>
            <a:endParaRPr lang="en-US" sz="76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2571" y="503464"/>
            <a:ext cx="6458857" cy="870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29" dirty="0">
                <a:solidFill>
                  <a:srgbClr val="F2F2F2"/>
                </a:solidFill>
              </a:rPr>
              <a:t>Free for candidates. Companies pay to hire.</a:t>
            </a:r>
            <a:endParaRPr lang="en-US" sz="3429" dirty="0"/>
          </a:p>
        </p:txBody>
      </p:sp>
      <p:sp>
        <p:nvSpPr>
          <p:cNvPr id="3" name="Text 1"/>
          <p:cNvSpPr/>
          <p:nvPr/>
        </p:nvSpPr>
        <p:spPr>
          <a:xfrm>
            <a:off x="2207381" y="1471083"/>
            <a:ext cx="4729238" cy="14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97948C"/>
                </a:solidFill>
              </a:rPr>
              <a:t>One rule: we never charge the engineers. Only the companies that want to hire them.</a:t>
            </a:r>
            <a:endParaRPr lang="en-US" sz="952" dirty="0"/>
          </a:p>
        </p:txBody>
      </p:sp>
      <p:sp>
        <p:nvSpPr>
          <p:cNvPr id="4" name="Shape 2"/>
          <p:cNvSpPr/>
          <p:nvPr/>
        </p:nvSpPr>
        <p:spPr>
          <a:xfrm>
            <a:off x="1342571" y="1858131"/>
            <a:ext cx="2056190" cy="2660952"/>
          </a:xfrm>
          <a:prstGeom prst="roundRect">
            <a:avLst>
              <a:gd name="adj" fmla="val 4706"/>
            </a:avLst>
          </a:prstGeom>
          <a:solidFill>
            <a:srgbClr val="191919"/>
          </a:solidFill>
          <a:ln/>
        </p:spPr>
      </p:sp>
      <p:sp>
        <p:nvSpPr>
          <p:cNvPr id="5" name="Text 3"/>
          <p:cNvSpPr/>
          <p:nvPr/>
        </p:nvSpPr>
        <p:spPr>
          <a:xfrm>
            <a:off x="1487714" y="2003274"/>
            <a:ext cx="1765905" cy="251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For candidates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Always free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✓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 Compete in practice and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company rounds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✓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 Build your Wirre Index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score over time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✓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 Performance is portable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and verifiable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✓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 Anonymous until you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choose to be found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✓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 Zero paywalls. Zero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subscriptions.</a:t>
            </a:r>
            <a:endParaRPr lang="en-US" sz="1143" dirty="0"/>
          </a:p>
        </p:txBody>
      </p:sp>
      <p:sp>
        <p:nvSpPr>
          <p:cNvPr id="6" name="Shape 4"/>
          <p:cNvSpPr/>
          <p:nvPr/>
        </p:nvSpPr>
        <p:spPr>
          <a:xfrm>
            <a:off x="1342571" y="4373940"/>
            <a:ext cx="2056190" cy="145143"/>
          </a:xfrm>
          <a:custGeom>
            <a:avLst/>
            <a:gdLst/>
            <a:ahLst/>
            <a:cxnLst/>
            <a:rect l="l" t="t" r="r" b="b"/>
            <a:pathLst>
              <a:path w="2056190" h="145143">
                <a:moveTo>
                  <a:pt x="0" y="0"/>
                </a:moveTo>
                <a:lnTo>
                  <a:pt x="2056190" y="0"/>
                </a:lnTo>
                <a:lnTo>
                  <a:pt x="2056190" y="48381"/>
                </a:lnTo>
                <a:cubicBezTo>
                  <a:pt x="2056190" y="101821"/>
                  <a:pt x="2012869" y="145143"/>
                  <a:pt x="1959429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7" name="Shape 5"/>
          <p:cNvSpPr/>
          <p:nvPr/>
        </p:nvSpPr>
        <p:spPr>
          <a:xfrm>
            <a:off x="3543905" y="1858131"/>
            <a:ext cx="2056190" cy="2660952"/>
          </a:xfrm>
          <a:prstGeom prst="roundRect">
            <a:avLst>
              <a:gd name="adj" fmla="val 4706"/>
            </a:avLst>
          </a:prstGeom>
          <a:solidFill>
            <a:srgbClr val="191919"/>
          </a:solidFill>
          <a:ln/>
        </p:spPr>
      </p:sp>
      <p:sp>
        <p:nvSpPr>
          <p:cNvPr id="8" name="Text 6"/>
          <p:cNvSpPr/>
          <p:nvPr/>
        </p:nvSpPr>
        <p:spPr>
          <a:xfrm>
            <a:off x="3689048" y="2003274"/>
            <a:ext cx="1765905" cy="251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For companies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Pay per hire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✓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 Post rounds, assess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candidates anonymously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✓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 System prevents gaming at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every step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✓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 View ranked leaderboard -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scores only, no names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✓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 Unlock and pay only for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profiles you choose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✓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 No subscription. No bulk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package required.</a:t>
            </a:r>
            <a:endParaRPr lang="en-US" sz="1143" dirty="0"/>
          </a:p>
        </p:txBody>
      </p:sp>
      <p:sp>
        <p:nvSpPr>
          <p:cNvPr id="9" name="Shape 7"/>
          <p:cNvSpPr/>
          <p:nvPr/>
        </p:nvSpPr>
        <p:spPr>
          <a:xfrm>
            <a:off x="3543905" y="4373940"/>
            <a:ext cx="2056190" cy="145143"/>
          </a:xfrm>
          <a:custGeom>
            <a:avLst/>
            <a:gdLst/>
            <a:ahLst/>
            <a:cxnLst/>
            <a:rect l="l" t="t" r="r" b="b"/>
            <a:pathLst>
              <a:path w="2056190" h="145143">
                <a:moveTo>
                  <a:pt x="0" y="0"/>
                </a:moveTo>
                <a:lnTo>
                  <a:pt x="2056190" y="0"/>
                </a:lnTo>
                <a:lnTo>
                  <a:pt x="2056190" y="48381"/>
                </a:lnTo>
                <a:cubicBezTo>
                  <a:pt x="2056190" y="101821"/>
                  <a:pt x="2012869" y="145143"/>
                  <a:pt x="1959429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0" name="Shape 8"/>
          <p:cNvSpPr/>
          <p:nvPr/>
        </p:nvSpPr>
        <p:spPr>
          <a:xfrm>
            <a:off x="5745238" y="1858131"/>
            <a:ext cx="2056190" cy="2660952"/>
          </a:xfrm>
          <a:prstGeom prst="roundRect">
            <a:avLst>
              <a:gd name="adj" fmla="val 4706"/>
            </a:avLst>
          </a:prstGeom>
          <a:solidFill>
            <a:srgbClr val="191919"/>
          </a:solidFill>
          <a:ln/>
        </p:spPr>
      </p:sp>
      <p:sp>
        <p:nvSpPr>
          <p:cNvPr id="11" name="Text 9"/>
          <p:cNvSpPr/>
          <p:nvPr/>
        </p:nvSpPr>
        <p:spPr>
          <a:xfrm>
            <a:off x="5890381" y="2003274"/>
            <a:ext cx="1765905" cy="251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43" dirty="0">
                <a:solidFill>
                  <a:srgbClr val="B8B8B8"/>
                </a:solidFill>
              </a:rPr>
              <a:t>How pricing works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Zero upfront cost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✓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 Pay only when you find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someone worth hiring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✓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 Single flat fee per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candidate profile unlocked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✓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 No retainers. No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failed-search fees.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✓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 Scales with your hiring -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spend only what you need</a:t>
            </a:r>
            <a:pPr algn="l" indent="0" marL="0">
              <a:buNone/>
            </a:pPr>
            <a:endParaRPr lang="en-US" sz="1143" dirty="0"/>
          </a:p>
          <a:p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60000"/>
                  </a:srgbClr>
                </a:solidFill>
              </a:rPr>
              <a:t>✓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 Enterprise volume </a:t>
            </a:r>
            <a:pPr algn="l"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952" dirty="0">
                <a:solidFill>
                  <a:srgbClr val="B8B8B8">
                    <a:alpha val="34000"/>
                  </a:srgbClr>
                </a:solidFill>
              </a:rPr>
              <a:t>packages available</a:t>
            </a:r>
            <a:endParaRPr lang="en-US" sz="1143" dirty="0"/>
          </a:p>
        </p:txBody>
      </p:sp>
      <p:sp>
        <p:nvSpPr>
          <p:cNvPr id="12" name="Shape 10"/>
          <p:cNvSpPr/>
          <p:nvPr/>
        </p:nvSpPr>
        <p:spPr>
          <a:xfrm>
            <a:off x="5745238" y="4373940"/>
            <a:ext cx="2056190" cy="145143"/>
          </a:xfrm>
          <a:custGeom>
            <a:avLst/>
            <a:gdLst/>
            <a:ahLst/>
            <a:cxnLst/>
            <a:rect l="l" t="t" r="r" b="b"/>
            <a:pathLst>
              <a:path w="2056190" h="145143">
                <a:moveTo>
                  <a:pt x="0" y="0"/>
                </a:moveTo>
                <a:lnTo>
                  <a:pt x="2056190" y="0"/>
                </a:lnTo>
                <a:lnTo>
                  <a:pt x="2056190" y="48381"/>
                </a:lnTo>
                <a:cubicBezTo>
                  <a:pt x="2056190" y="101821"/>
                  <a:pt x="2012869" y="145143"/>
                  <a:pt x="1959429" y="145143"/>
                </a:cubicBezTo>
                <a:lnTo>
                  <a:pt x="96762" y="145143"/>
                </a:lnTo>
                <a:cubicBezTo>
                  <a:pt x="43322" y="145143"/>
                  <a:pt x="0" y="101821"/>
                  <a:pt x="0" y="48381"/>
                </a:cubicBezTo>
                <a:close/>
              </a:path>
            </a:pathLst>
          </a:custGeom>
          <a:solidFill>
            <a:srgbClr val="191919"/>
          </a:solidFill>
          <a:ln/>
        </p:spPr>
      </p:sp>
      <p:sp>
        <p:nvSpPr>
          <p:cNvPr id="13" name="Text 11"/>
          <p:cNvSpPr/>
          <p:nvPr/>
        </p:nvSpPr>
        <p:spPr>
          <a:xfrm>
            <a:off x="1953381" y="4615845"/>
            <a:ext cx="5243286" cy="108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2" dirty="0">
                <a:solidFill>
                  <a:srgbClr val="97948C"/>
                </a:solidFill>
              </a:rPr>
              <a:t>Enterprise volume packages available for high-frequency hiring teams. </a:t>
            </a:r>
            <a:pPr algn="ctr" indent="0" marL="0">
              <a:lnSpc>
                <a:spcPct val="90000"/>
              </a:lnSpc>
              <a:buNone/>
            </a:pPr>
            <a:r>
              <a:rPr lang="en-US" sz="762" dirty="0">
                <a:solidFill>
                  <a:srgbClr val="F3F3F3"/>
                </a:solidFill>
              </a:rPr>
              <a:t>Contact us</a:t>
            </a:r>
            <a:endParaRPr lang="en-US" sz="76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381" y="338667"/>
            <a:ext cx="7988905" cy="38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48" spc="-36" kern="0" dirty="0">
                <a:solidFill>
                  <a:srgbClr val="F2F2F2"/>
                </a:solidFill>
              </a:rPr>
              <a:t>Nothing else is built for this.</a:t>
            </a:r>
            <a:endParaRPr lang="en-US" sz="3048" dirty="0"/>
          </a:p>
        </p:txBody>
      </p:sp>
      <p:sp>
        <p:nvSpPr>
          <p:cNvPr id="3" name="Text 1"/>
          <p:cNvSpPr/>
          <p:nvPr/>
        </p:nvSpPr>
        <p:spPr>
          <a:xfrm>
            <a:off x="556381" y="786190"/>
            <a:ext cx="7916333" cy="174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3" dirty="0">
                <a:solidFill>
                  <a:srgbClr val="97948C"/>
                </a:solidFill>
              </a:rPr>
              <a:t>No existing platform tests AI-orchestrated engineering, prevents hiring bias, or aligns pricing with outcomes.</a:t>
            </a:r>
            <a:endParaRPr lang="en-US" sz="1143" dirty="0"/>
          </a:p>
        </p:txBody>
      </p:sp>
      <p:pic>
        <p:nvPicPr>
          <p:cNvPr id="4" name="Image 0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1"/>
          <a:srcRect l="0" r="0" t="49239" b="49239"/>
          <a:stretch/>
        </p:blipFill>
        <p:spPr>
          <a:xfrm>
            <a:off x="598714" y="1161143"/>
            <a:ext cx="7946571" cy="1209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714" y="1312333"/>
            <a:ext cx="1209524" cy="13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Criteria</a:t>
            </a:r>
            <a:endParaRPr lang="en-US" sz="952" dirty="0"/>
          </a:p>
        </p:txBody>
      </p:sp>
      <p:sp>
        <p:nvSpPr>
          <p:cNvPr id="6" name="Text 3"/>
          <p:cNvSpPr/>
          <p:nvPr/>
        </p:nvSpPr>
        <p:spPr>
          <a:xfrm>
            <a:off x="1935238" y="1312333"/>
            <a:ext cx="1366762" cy="13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Wirre</a:t>
            </a:r>
            <a:endParaRPr lang="en-US" sz="952" dirty="0"/>
          </a:p>
        </p:txBody>
      </p:sp>
      <p:sp>
        <p:nvSpPr>
          <p:cNvPr id="7" name="Text 4"/>
          <p:cNvSpPr/>
          <p:nvPr/>
        </p:nvSpPr>
        <p:spPr>
          <a:xfrm>
            <a:off x="3429000" y="1312333"/>
            <a:ext cx="1366762" cy="13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808080"/>
                </a:solidFill>
              </a:rPr>
              <a:t>LeetCode</a:t>
            </a:r>
            <a:endParaRPr lang="en-US" sz="952" dirty="0"/>
          </a:p>
        </p:txBody>
      </p:sp>
      <p:sp>
        <p:nvSpPr>
          <p:cNvPr id="8" name="Text 5"/>
          <p:cNvSpPr/>
          <p:nvPr/>
        </p:nvSpPr>
        <p:spPr>
          <a:xfrm>
            <a:off x="4922762" y="1312333"/>
            <a:ext cx="1366762" cy="13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808080"/>
                </a:solidFill>
              </a:rPr>
              <a:t>HackerRank</a:t>
            </a:r>
            <a:endParaRPr lang="en-US" sz="952" dirty="0"/>
          </a:p>
        </p:txBody>
      </p:sp>
      <p:sp>
        <p:nvSpPr>
          <p:cNvPr id="9" name="Text 6"/>
          <p:cNvSpPr/>
          <p:nvPr/>
        </p:nvSpPr>
        <p:spPr>
          <a:xfrm>
            <a:off x="6737048" y="1312333"/>
            <a:ext cx="1366762" cy="13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808080"/>
                </a:solidFill>
              </a:rPr>
              <a:t>HackerEarth</a:t>
            </a:r>
            <a:endParaRPr lang="en-US" sz="952" dirty="0"/>
          </a:p>
        </p:txBody>
      </p:sp>
      <p:pic>
        <p:nvPicPr>
          <p:cNvPr id="10" name="Image 1" descr="https://files.chroniclehq.com/84f681bf-73c2-4ebf-b1db-1b5294f645fb-Gray_horizontal_line.png">    </p:cNvPr>
          <p:cNvPicPr>
            <a:picLocks noChangeAspect="1"/>
          </p:cNvPicPr>
          <p:nvPr/>
        </p:nvPicPr>
        <p:blipFill>
          <a:blip r:embed="rId2"/>
          <a:srcRect l="0" r="0" t="49239" b="49239"/>
          <a:stretch/>
        </p:blipFill>
        <p:spPr>
          <a:xfrm>
            <a:off x="598714" y="1499810"/>
            <a:ext cx="7946571" cy="1209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8714" y="1681238"/>
            <a:ext cx="1209524" cy="13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PROBLEM TYPE</a:t>
            </a:r>
            <a:endParaRPr lang="en-US" sz="952" dirty="0"/>
          </a:p>
        </p:txBody>
      </p:sp>
      <p:sp>
        <p:nvSpPr>
          <p:cNvPr id="12" name="Text 8"/>
          <p:cNvSpPr/>
          <p:nvPr/>
        </p:nvSpPr>
        <p:spPr>
          <a:xfrm>
            <a:off x="1935238" y="1644952"/>
            <a:ext cx="1366762" cy="11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B8B8B8"/>
                </a:solidFill>
              </a:rPr>
              <a:t>Full system engineering</a:t>
            </a:r>
            <a:endParaRPr lang="en-US" sz="857" dirty="0"/>
          </a:p>
        </p:txBody>
      </p:sp>
      <p:sp>
        <p:nvSpPr>
          <p:cNvPr id="13" name="Text 9"/>
          <p:cNvSpPr/>
          <p:nvPr/>
        </p:nvSpPr>
        <p:spPr>
          <a:xfrm>
            <a:off x="3429000" y="1644952"/>
            <a:ext cx="1366762" cy="11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Isolated algorithms</a:t>
            </a:r>
            <a:endParaRPr lang="en-US" sz="857" dirty="0"/>
          </a:p>
        </p:txBody>
      </p:sp>
      <p:sp>
        <p:nvSpPr>
          <p:cNvPr id="14" name="Text 10"/>
          <p:cNvSpPr/>
          <p:nvPr/>
        </p:nvSpPr>
        <p:spPr>
          <a:xfrm>
            <a:off x="4922762" y="1644952"/>
            <a:ext cx="1366762" cy="11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Isolated algorithms</a:t>
            </a:r>
            <a:endParaRPr lang="en-US" sz="857" dirty="0"/>
          </a:p>
        </p:txBody>
      </p:sp>
      <p:sp>
        <p:nvSpPr>
          <p:cNvPr id="15" name="Text 11"/>
          <p:cNvSpPr/>
          <p:nvPr/>
        </p:nvSpPr>
        <p:spPr>
          <a:xfrm>
            <a:off x="6737048" y="1644952"/>
            <a:ext cx="1366762" cy="11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Isolated algorithms</a:t>
            </a:r>
            <a:endParaRPr lang="en-US" sz="857" dirty="0"/>
          </a:p>
        </p:txBody>
      </p:sp>
      <p:pic>
        <p:nvPicPr>
          <p:cNvPr id="16" name="Image 2" descr="https://files.chroniclehq.com/1c501c36-f81b-4c59-a969-174d488d3f5c-Gray_dotted_horizontal_line.png">    </p:cNvPr>
          <p:cNvPicPr>
            <a:picLocks noChangeAspect="1"/>
          </p:cNvPicPr>
          <p:nvPr/>
        </p:nvPicPr>
        <p:blipFill>
          <a:blip r:embed="rId3"/>
          <a:srcRect l="0" r="0" t="49239" b="49239"/>
          <a:stretch/>
        </p:blipFill>
        <p:spPr>
          <a:xfrm>
            <a:off x="598714" y="1923143"/>
            <a:ext cx="7946571" cy="1209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8714" y="2104571"/>
            <a:ext cx="1209524" cy="13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AI INTEGRATION</a:t>
            </a:r>
            <a:endParaRPr lang="en-US" sz="952" dirty="0"/>
          </a:p>
        </p:txBody>
      </p:sp>
      <p:sp>
        <p:nvSpPr>
          <p:cNvPr id="18" name="Text 13"/>
          <p:cNvSpPr/>
          <p:nvPr/>
        </p:nvSpPr>
        <p:spPr>
          <a:xfrm>
            <a:off x="1935238" y="2068286"/>
            <a:ext cx="1366762" cy="119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F3F3F3"/>
                </a:solidFill>
              </a:rPr>
              <a:t>✓</a:t>
            </a:r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B8B8B8">
                    <a:alpha val="56000"/>
                  </a:srgbClr>
                </a:solidFill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F3F3F3">
                    <a:alpha val="56000"/>
                  </a:srgbClr>
                </a:solidFill>
              </a:rPr>
              <a:t>Native, required</a:t>
            </a:r>
            <a:endParaRPr lang="en-US" sz="857" dirty="0"/>
          </a:p>
        </p:txBody>
      </p:sp>
      <p:sp>
        <p:nvSpPr>
          <p:cNvPr id="19" name="Text 14"/>
          <p:cNvSpPr/>
          <p:nvPr/>
        </p:nvSpPr>
        <p:spPr>
          <a:xfrm>
            <a:off x="3429000" y="2068286"/>
            <a:ext cx="1366762" cy="119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✕</a:t>
            </a:r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>
                    <a:alpha val="56000"/>
                  </a:srgbClr>
                </a:solidFill>
              </a:rPr>
              <a:t> Banned in contests</a:t>
            </a:r>
            <a:endParaRPr lang="en-US" sz="857" dirty="0"/>
          </a:p>
        </p:txBody>
      </p:sp>
      <p:sp>
        <p:nvSpPr>
          <p:cNvPr id="20" name="Text 15"/>
          <p:cNvSpPr/>
          <p:nvPr/>
        </p:nvSpPr>
        <p:spPr>
          <a:xfrm>
            <a:off x="4922762" y="2068286"/>
            <a:ext cx="1366762" cy="119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✕</a:t>
            </a:r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>
                    <a:alpha val="56000"/>
                  </a:srgbClr>
                </a:solidFill>
              </a:rPr>
              <a:t> Not supported</a:t>
            </a:r>
            <a:endParaRPr lang="en-US" sz="857" dirty="0"/>
          </a:p>
        </p:txBody>
      </p:sp>
      <p:sp>
        <p:nvSpPr>
          <p:cNvPr id="21" name="Text 16"/>
          <p:cNvSpPr/>
          <p:nvPr/>
        </p:nvSpPr>
        <p:spPr>
          <a:xfrm>
            <a:off x="6737048" y="2068286"/>
            <a:ext cx="1366762" cy="119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✕</a:t>
            </a:r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>
                    <a:alpha val="56000"/>
                  </a:srgbClr>
                </a:solidFill>
              </a:rPr>
              <a:t> Not supported</a:t>
            </a:r>
            <a:endParaRPr lang="en-US" sz="857" dirty="0"/>
          </a:p>
        </p:txBody>
      </p:sp>
      <p:pic>
        <p:nvPicPr>
          <p:cNvPr id="22" name="Image 3" descr="https://files.chroniclehq.com/1c501c36-f81b-4c59-a969-174d488d3f5c-Gray_dotted_horizontal_line.png">    </p:cNvPr>
          <p:cNvPicPr>
            <a:picLocks noChangeAspect="1"/>
          </p:cNvPicPr>
          <p:nvPr/>
        </p:nvPicPr>
        <p:blipFill>
          <a:blip r:embed="rId4"/>
          <a:srcRect l="0" r="0" t="49239" b="49239"/>
          <a:stretch/>
        </p:blipFill>
        <p:spPr>
          <a:xfrm>
            <a:off x="598714" y="2346476"/>
            <a:ext cx="7946571" cy="1209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98714" y="2515810"/>
            <a:ext cx="1209524" cy="13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ANONYMOUS ROUNDS</a:t>
            </a:r>
            <a:endParaRPr lang="en-US" sz="952" dirty="0"/>
          </a:p>
        </p:txBody>
      </p:sp>
      <p:sp>
        <p:nvSpPr>
          <p:cNvPr id="24" name="Text 18"/>
          <p:cNvSpPr/>
          <p:nvPr/>
        </p:nvSpPr>
        <p:spPr>
          <a:xfrm>
            <a:off x="1935238" y="2479524"/>
            <a:ext cx="1366762" cy="119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F3F3F3"/>
                </a:solidFill>
              </a:rPr>
              <a:t>✓</a:t>
            </a:r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B8B8B8">
                    <a:alpha val="56000"/>
                  </a:srgbClr>
                </a:solidFill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F3F3F3">
                    <a:alpha val="56000"/>
                  </a:srgbClr>
                </a:solidFill>
              </a:rPr>
              <a:t>Fully anonymous</a:t>
            </a:r>
            <a:endParaRPr lang="en-US" sz="857" dirty="0"/>
          </a:p>
        </p:txBody>
      </p:sp>
      <p:sp>
        <p:nvSpPr>
          <p:cNvPr id="25" name="Text 19"/>
          <p:cNvSpPr/>
          <p:nvPr/>
        </p:nvSpPr>
        <p:spPr>
          <a:xfrm>
            <a:off x="3429000" y="2479524"/>
            <a:ext cx="1366762" cy="119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✕</a:t>
            </a:r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>
                    <a:alpha val="56000"/>
                  </a:srgbClr>
                </a:solidFill>
              </a:rPr>
              <a:t> Candidates identified</a:t>
            </a:r>
            <a:endParaRPr lang="en-US" sz="857" dirty="0"/>
          </a:p>
        </p:txBody>
      </p:sp>
      <p:sp>
        <p:nvSpPr>
          <p:cNvPr id="26" name="Text 20"/>
          <p:cNvSpPr/>
          <p:nvPr/>
        </p:nvSpPr>
        <p:spPr>
          <a:xfrm>
            <a:off x="4922762" y="2479524"/>
            <a:ext cx="1366762" cy="119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✕</a:t>
            </a:r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>
                    <a:alpha val="56000"/>
                  </a:srgbClr>
                </a:solidFill>
              </a:rPr>
              <a:t> Candidates identified</a:t>
            </a:r>
            <a:endParaRPr lang="en-US" sz="857" dirty="0"/>
          </a:p>
        </p:txBody>
      </p:sp>
      <p:sp>
        <p:nvSpPr>
          <p:cNvPr id="27" name="Text 21"/>
          <p:cNvSpPr/>
          <p:nvPr/>
        </p:nvSpPr>
        <p:spPr>
          <a:xfrm>
            <a:off x="6737048" y="2479524"/>
            <a:ext cx="1366762" cy="119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✕</a:t>
            </a:r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>
                    <a:alpha val="56000"/>
                  </a:srgbClr>
                </a:solidFill>
              </a:rPr>
              <a:t> Candidates identified</a:t>
            </a:r>
            <a:endParaRPr lang="en-US" sz="857" dirty="0"/>
          </a:p>
        </p:txBody>
      </p:sp>
      <p:pic>
        <p:nvPicPr>
          <p:cNvPr id="28" name="Image 4" descr="https://files.chroniclehq.com/1c501c36-f81b-4c59-a969-174d488d3f5c-Gray_dotted_horizontal_line.png">    </p:cNvPr>
          <p:cNvPicPr>
            <a:picLocks noChangeAspect="1"/>
          </p:cNvPicPr>
          <p:nvPr/>
        </p:nvPicPr>
        <p:blipFill>
          <a:blip r:embed="rId5"/>
          <a:srcRect l="0" r="0" t="49239" b="49239"/>
          <a:stretch/>
        </p:blipFill>
        <p:spPr>
          <a:xfrm>
            <a:off x="598714" y="2757714"/>
            <a:ext cx="7946571" cy="12095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98714" y="2927048"/>
            <a:ext cx="1209524" cy="13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CANDIDATE COST</a:t>
            </a:r>
            <a:endParaRPr lang="en-US" sz="952" dirty="0"/>
          </a:p>
        </p:txBody>
      </p:sp>
      <p:sp>
        <p:nvSpPr>
          <p:cNvPr id="30" name="Text 23"/>
          <p:cNvSpPr/>
          <p:nvPr/>
        </p:nvSpPr>
        <p:spPr>
          <a:xfrm>
            <a:off x="1935238" y="2890762"/>
            <a:ext cx="1366762" cy="11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F3F3F3"/>
                </a:solidFill>
              </a:rPr>
              <a:t>Free always</a:t>
            </a:r>
            <a:endParaRPr lang="en-US" sz="857" dirty="0"/>
          </a:p>
        </p:txBody>
      </p:sp>
      <p:sp>
        <p:nvSpPr>
          <p:cNvPr id="31" name="Text 24"/>
          <p:cNvSpPr/>
          <p:nvPr/>
        </p:nvSpPr>
        <p:spPr>
          <a:xfrm>
            <a:off x="3429000" y="2890762"/>
            <a:ext cx="1366762" cy="11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Paid (premium)</a:t>
            </a:r>
            <a:endParaRPr lang="en-US" sz="857" dirty="0"/>
          </a:p>
        </p:txBody>
      </p:sp>
      <p:sp>
        <p:nvSpPr>
          <p:cNvPr id="32" name="Text 25"/>
          <p:cNvSpPr/>
          <p:nvPr/>
        </p:nvSpPr>
        <p:spPr>
          <a:xfrm>
            <a:off x="4922762" y="2890762"/>
            <a:ext cx="1366762" cy="11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Free (basic only)</a:t>
            </a:r>
            <a:endParaRPr lang="en-US" sz="857" dirty="0"/>
          </a:p>
        </p:txBody>
      </p:sp>
      <p:sp>
        <p:nvSpPr>
          <p:cNvPr id="33" name="Text 26"/>
          <p:cNvSpPr/>
          <p:nvPr/>
        </p:nvSpPr>
        <p:spPr>
          <a:xfrm>
            <a:off x="6737048" y="2890762"/>
            <a:ext cx="1366762" cy="11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Free (basic only)</a:t>
            </a:r>
            <a:endParaRPr lang="en-US" sz="857" dirty="0"/>
          </a:p>
        </p:txBody>
      </p:sp>
      <p:pic>
        <p:nvPicPr>
          <p:cNvPr id="34" name="Image 5" descr="https://files.chroniclehq.com/1c501c36-f81b-4c59-a969-174d488d3f5c-Gray_dotted_horizontal_line.png">    </p:cNvPr>
          <p:cNvPicPr>
            <a:picLocks noChangeAspect="1"/>
          </p:cNvPicPr>
          <p:nvPr/>
        </p:nvPicPr>
        <p:blipFill>
          <a:blip r:embed="rId6"/>
          <a:srcRect l="0" r="0" t="49239" b="49239"/>
          <a:stretch/>
        </p:blipFill>
        <p:spPr>
          <a:xfrm>
            <a:off x="598714" y="3168952"/>
            <a:ext cx="7946571" cy="12095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98714" y="3338286"/>
            <a:ext cx="1209524" cy="13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HIRING MODEL</a:t>
            </a:r>
            <a:endParaRPr lang="en-US" sz="952" dirty="0"/>
          </a:p>
        </p:txBody>
      </p:sp>
      <p:sp>
        <p:nvSpPr>
          <p:cNvPr id="36" name="Text 28"/>
          <p:cNvSpPr/>
          <p:nvPr/>
        </p:nvSpPr>
        <p:spPr>
          <a:xfrm>
            <a:off x="1935238" y="3302000"/>
            <a:ext cx="1366762" cy="11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F3F3F3"/>
                </a:solidFill>
              </a:rPr>
              <a:t>Pay per hire</a:t>
            </a:r>
            <a:endParaRPr lang="en-US" sz="857" dirty="0"/>
          </a:p>
        </p:txBody>
      </p:sp>
      <p:sp>
        <p:nvSpPr>
          <p:cNvPr id="37" name="Text 29"/>
          <p:cNvSpPr/>
          <p:nvPr/>
        </p:nvSpPr>
        <p:spPr>
          <a:xfrm>
            <a:off x="3429000" y="3302000"/>
            <a:ext cx="1366762" cy="11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Subscription</a:t>
            </a:r>
            <a:endParaRPr lang="en-US" sz="857" dirty="0"/>
          </a:p>
        </p:txBody>
      </p:sp>
      <p:sp>
        <p:nvSpPr>
          <p:cNvPr id="38" name="Text 30"/>
          <p:cNvSpPr/>
          <p:nvPr/>
        </p:nvSpPr>
        <p:spPr>
          <a:xfrm>
            <a:off x="4922762" y="3302000"/>
            <a:ext cx="1366762" cy="11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Subscription</a:t>
            </a:r>
            <a:endParaRPr lang="en-US" sz="857" dirty="0"/>
          </a:p>
        </p:txBody>
      </p:sp>
      <p:sp>
        <p:nvSpPr>
          <p:cNvPr id="39" name="Text 31"/>
          <p:cNvSpPr/>
          <p:nvPr/>
        </p:nvSpPr>
        <p:spPr>
          <a:xfrm>
            <a:off x="6737048" y="3302000"/>
            <a:ext cx="1366762" cy="11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Subscription</a:t>
            </a:r>
            <a:endParaRPr lang="en-US" sz="857" dirty="0"/>
          </a:p>
        </p:txBody>
      </p:sp>
      <p:pic>
        <p:nvPicPr>
          <p:cNvPr id="40" name="Image 6" descr="https://files.chroniclehq.com/1c501c36-f81b-4c59-a969-174d488d3f5c-Gray_dotted_horizontal_line.png">    </p:cNvPr>
          <p:cNvPicPr>
            <a:picLocks noChangeAspect="1"/>
          </p:cNvPicPr>
          <p:nvPr/>
        </p:nvPicPr>
        <p:blipFill>
          <a:blip r:embed="rId7"/>
          <a:srcRect l="0" r="0" t="49239" b="49239"/>
          <a:stretch/>
        </p:blipFill>
        <p:spPr>
          <a:xfrm>
            <a:off x="598714" y="3580190"/>
            <a:ext cx="7946571" cy="12095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98714" y="3749524"/>
            <a:ext cx="1209524" cy="13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EVALUATION</a:t>
            </a:r>
            <a:endParaRPr lang="en-US" sz="952" dirty="0"/>
          </a:p>
        </p:txBody>
      </p:sp>
      <p:sp>
        <p:nvSpPr>
          <p:cNvPr id="42" name="Text 33"/>
          <p:cNvSpPr/>
          <p:nvPr/>
        </p:nvSpPr>
        <p:spPr>
          <a:xfrm>
            <a:off x="1935238" y="3713238"/>
            <a:ext cx="1366762" cy="11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F3F3F3"/>
                </a:solidFill>
              </a:rPr>
              <a:t>Integration + load testing</a:t>
            </a:r>
            <a:endParaRPr lang="en-US" sz="857" dirty="0"/>
          </a:p>
        </p:txBody>
      </p:sp>
      <p:sp>
        <p:nvSpPr>
          <p:cNvPr id="43" name="Text 34"/>
          <p:cNvSpPr/>
          <p:nvPr/>
        </p:nvSpPr>
        <p:spPr>
          <a:xfrm>
            <a:off x="3429000" y="3713238"/>
            <a:ext cx="1366762" cy="11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Unit test pass/fail</a:t>
            </a:r>
            <a:endParaRPr lang="en-US" sz="857" dirty="0"/>
          </a:p>
        </p:txBody>
      </p:sp>
      <p:sp>
        <p:nvSpPr>
          <p:cNvPr id="44" name="Text 35"/>
          <p:cNvSpPr/>
          <p:nvPr/>
        </p:nvSpPr>
        <p:spPr>
          <a:xfrm>
            <a:off x="4922762" y="3713238"/>
            <a:ext cx="1366762" cy="11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Unit test pass/fail</a:t>
            </a:r>
            <a:endParaRPr lang="en-US" sz="857" dirty="0"/>
          </a:p>
        </p:txBody>
      </p:sp>
      <p:sp>
        <p:nvSpPr>
          <p:cNvPr id="45" name="Text 36"/>
          <p:cNvSpPr/>
          <p:nvPr/>
        </p:nvSpPr>
        <p:spPr>
          <a:xfrm>
            <a:off x="6737048" y="3713238"/>
            <a:ext cx="1366762" cy="11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Unit test pass/fail</a:t>
            </a:r>
            <a:endParaRPr lang="en-US" sz="857" dirty="0"/>
          </a:p>
        </p:txBody>
      </p:sp>
      <p:pic>
        <p:nvPicPr>
          <p:cNvPr id="46" name="Image 7" descr="https://files.chroniclehq.com/1c501c36-f81b-4c59-a969-174d488d3f5c-Gray_dotted_horizontal_line.png">    </p:cNvPr>
          <p:cNvPicPr>
            <a:picLocks noChangeAspect="1"/>
          </p:cNvPicPr>
          <p:nvPr/>
        </p:nvPicPr>
        <p:blipFill>
          <a:blip r:embed="rId8"/>
          <a:srcRect l="0" r="0" t="49239" b="49239"/>
          <a:stretch/>
        </p:blipFill>
        <p:spPr>
          <a:xfrm>
            <a:off x="598714" y="3991429"/>
            <a:ext cx="7946571" cy="120952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598714" y="4160762"/>
            <a:ext cx="1209524" cy="290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2" dirty="0">
                <a:solidFill>
                  <a:srgbClr val="B8B8B8"/>
                </a:solidFill>
              </a:rPr>
              <a:t>SCORE TRANSPARENCY</a:t>
            </a:r>
            <a:endParaRPr lang="en-US" sz="952" dirty="0"/>
          </a:p>
        </p:txBody>
      </p:sp>
      <p:sp>
        <p:nvSpPr>
          <p:cNvPr id="48" name="Text 38"/>
          <p:cNvSpPr/>
          <p:nvPr/>
        </p:nvSpPr>
        <p:spPr>
          <a:xfrm>
            <a:off x="1935238" y="4124476"/>
            <a:ext cx="1366762" cy="119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F3F3F3"/>
                </a:solidFill>
              </a:rPr>
              <a:t>Final score only</a:t>
            </a:r>
            <a:endParaRPr lang="en-US" sz="857" dirty="0"/>
          </a:p>
        </p:txBody>
      </p:sp>
      <p:sp>
        <p:nvSpPr>
          <p:cNvPr id="49" name="Text 39"/>
          <p:cNvSpPr/>
          <p:nvPr/>
        </p:nvSpPr>
        <p:spPr>
          <a:xfrm>
            <a:off x="3429000" y="4124476"/>
            <a:ext cx="1366762" cy="119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Full history visible</a:t>
            </a:r>
            <a:endParaRPr lang="en-US" sz="857" dirty="0"/>
          </a:p>
        </p:txBody>
      </p:sp>
      <p:sp>
        <p:nvSpPr>
          <p:cNvPr id="50" name="Text 40"/>
          <p:cNvSpPr/>
          <p:nvPr/>
        </p:nvSpPr>
        <p:spPr>
          <a:xfrm>
            <a:off x="4922762" y="4124476"/>
            <a:ext cx="1366762" cy="119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Full history visible</a:t>
            </a:r>
            <a:endParaRPr lang="en-US" sz="857" dirty="0"/>
          </a:p>
        </p:txBody>
      </p:sp>
      <p:sp>
        <p:nvSpPr>
          <p:cNvPr id="51" name="Text 41"/>
          <p:cNvSpPr/>
          <p:nvPr/>
        </p:nvSpPr>
        <p:spPr>
          <a:xfrm>
            <a:off x="6737048" y="4124476"/>
            <a:ext cx="1366762" cy="119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7" dirty="0">
                <a:solidFill>
                  <a:srgbClr val="808080"/>
                </a:solidFill>
              </a:rPr>
              <a:t>Full history visible</a:t>
            </a:r>
            <a:endParaRPr lang="en-US" sz="857" dirty="0"/>
          </a:p>
        </p:txBody>
      </p:sp>
      <p:pic>
        <p:nvPicPr>
          <p:cNvPr id="52" name="Image 8" descr="https://files.chroniclehq.com/1c501c36-f81b-4c59-a969-174d488d3f5c-Gray_dotted_horizontal_line.png">    </p:cNvPr>
          <p:cNvPicPr>
            <a:picLocks noChangeAspect="1"/>
          </p:cNvPicPr>
          <p:nvPr/>
        </p:nvPicPr>
        <p:blipFill>
          <a:blip r:embed="rId9"/>
          <a:srcRect l="0" r="0" t="49239" b="49239"/>
          <a:stretch/>
        </p:blipFill>
        <p:spPr>
          <a:xfrm>
            <a:off x="598714" y="4547807"/>
            <a:ext cx="7946571" cy="1209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4162" y="441658"/>
            <a:ext cx="5708952" cy="290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86" spc="-12" kern="0" dirty="0">
                <a:solidFill>
                  <a:srgbClr val="F2F2F2"/>
                </a:solidFill>
              </a:rPr>
              <a:t>Launching 2026. Join the beta.</a:t>
            </a:r>
            <a:endParaRPr lang="en-US" sz="2286" dirty="0"/>
          </a:p>
        </p:txBody>
      </p:sp>
      <p:sp>
        <p:nvSpPr>
          <p:cNvPr id="3" name="Text 1"/>
          <p:cNvSpPr/>
          <p:nvPr/>
        </p:nvSpPr>
        <p:spPr>
          <a:xfrm>
            <a:off x="404162" y="829250"/>
            <a:ext cx="5164667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24" spc="-12" kern="0" dirty="0">
                <a:solidFill>
                  <a:srgbClr val="F2F2F2"/>
                </a:solidFill>
              </a:rPr>
              <a:t>wirre.in · arya@wirre.in</a:t>
            </a:r>
            <a:endParaRPr lang="en-US" sz="1524" dirty="0"/>
          </a:p>
        </p:txBody>
      </p:sp>
      <p:sp>
        <p:nvSpPr>
          <p:cNvPr id="4" name="Text 2"/>
          <p:cNvSpPr/>
          <p:nvPr/>
        </p:nvSpPr>
        <p:spPr>
          <a:xfrm>
            <a:off x="1947333" y="3973286"/>
            <a:ext cx="6797524" cy="72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714" dirty="0">
                <a:solidFill>
                  <a:srgbClr val="F2F2F2"/>
                </a:solidFill>
              </a:rPr>
              <a:t>Let's build.</a:t>
            </a:r>
            <a:endParaRPr lang="en-US" sz="571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2026-03-06T10:13:01Z</dcterms:created>
  <dcterms:modified xsi:type="dcterms:W3CDTF">2026-03-06T10:13:01Z</dcterms:modified>
</cp:coreProperties>
</file>